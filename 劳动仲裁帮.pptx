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4" r:id="rId2"/>
    <p:sldId id="257" r:id="rId3"/>
    <p:sldId id="258" r:id="rId4"/>
    <p:sldId id="259" r:id="rId5"/>
    <p:sldId id="261" r:id="rId6"/>
    <p:sldId id="262" r:id="rId7"/>
    <p:sldId id="275" r:id="rId8"/>
    <p:sldId id="263" r:id="rId9"/>
    <p:sldId id="264" r:id="rId10"/>
    <p:sldId id="265" r:id="rId11"/>
    <p:sldId id="266" r:id="rId12"/>
    <p:sldId id="276" r:id="rId13"/>
    <p:sldId id="267" r:id="rId14"/>
    <p:sldId id="268" r:id="rId15"/>
    <p:sldId id="269" r:id="rId16"/>
    <p:sldId id="278" r:id="rId17"/>
    <p:sldId id="270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本次答辩将围绕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五</a:t>
            </a:r>
            <a:r>
              <a:rPr lang="en-US">
                <a:solidFill>
                  <a:srgbClr val="000000"/>
                </a:solidFill>
                <a:sym typeface="+mn-ea"/>
              </a:rPr>
              <a:t>个核心部分展开。首先，我们将深入分析当前劳动者维权面临的困境与痛点；接着，介绍我们为此设计的解决方案和核心目标；然后，详细阐述项目的技术架构与两大核心创新点；之后，我们会展示系统的四大核心功能及应用实践；最后，对项目成果、社会价值进行总结，并对未来发展进行展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首先来看项目背景与行业痛点。根据人社部官方数据，2024 年全国劳动仲裁案件突破多，涉及劳动者人数多，结案涉案金额高；近三年劳动纠纷里，薪资、解约纠纷占比超 6 成。</a:t>
            </a:r>
            <a:r>
              <a:rPr lang="zh-CN" altLang="en-US"/>
              <a:t>当前争议类型愈发多样复杂，专业判断、材料准备、流程效率三重难题同时存在，普通劳动者维权的准备环节，仍背负沉重负担，需要轻量化工具破局。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而当下劳动者维权堵点重重：</a:t>
            </a:r>
          </a:p>
          <a:p>
            <a:r>
              <a:rPr lang="zh-CN" altLang="en-US" dirty="0">
                <a:sym typeface="+mn-ea"/>
              </a:rPr>
              <a:t>第一，外卖骑手、实习生、劳务派遣人员分不清劳动关系、劳务关系、平台灵活用工三类法律关系；</a:t>
            </a:r>
          </a:p>
          <a:p>
            <a:r>
              <a:rPr lang="zh-CN" altLang="en-US" dirty="0">
                <a:sym typeface="+mn-ea"/>
              </a:rPr>
              <a:t>第二，普通劳动者缺少法律专业知识，海量法条、杂乱案例筛选难度极大；</a:t>
            </a:r>
          </a:p>
          <a:p>
            <a:r>
              <a:rPr lang="zh-CN" altLang="en-US" dirty="0">
                <a:sym typeface="+mn-ea"/>
              </a:rPr>
              <a:t>第三，传统维权成本高昂，单次法律咨询 300-800 元、代写文书千元起步，还要反复跑腿整理证据，流程繁琐、耗时费钱，大量务工人员被迫放弃维权。立足市场刚需，我们的项目应运而生。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针对以上难题，我们打造融合 </a:t>
            </a:r>
            <a:r>
              <a:rPr lang="en-US" altLang="zh-CN" dirty="0">
                <a:sym typeface="+mn-ea"/>
              </a:rPr>
              <a:t>AI </a:t>
            </a:r>
            <a:r>
              <a:rPr lang="zh-CN" altLang="en-US" dirty="0">
                <a:sym typeface="+mn-ea"/>
              </a:rPr>
              <a:t>技术的一站式智能维权系统，项目核心目标有三点：消除法律信息差、降低维权操作门槛、缩短维权耗时成本，让低成本普惠法律服务触达每一位劳动者。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系统围绕劳动者全仲裁链路设计产品，覆盖用工身份判定、智能法律咨询、法条案例检索、证据 </a:t>
            </a:r>
            <a:r>
              <a:rPr lang="en-US" altLang="zh-CN" dirty="0">
                <a:sym typeface="+mn-ea"/>
              </a:rPr>
              <a:t>OCR </a:t>
            </a:r>
            <a:r>
              <a:rPr lang="zh-CN" altLang="en-US" dirty="0">
                <a:sym typeface="+mn-ea"/>
              </a:rPr>
              <a:t>识别、赔偿金额智能核算、仲裁文书自动生成六大核心模块。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用户只需跟着问卷填写用工信息、上传劳动合同、工资流水等材料，几分钟就能完成原本需要数天的维权准备工作。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sym typeface="+mn-ea"/>
              </a:rPr>
              <a:t>在技术落地层面，项目采用三层技术架构：</a:t>
            </a:r>
          </a:p>
          <a:p>
            <a:r>
              <a:rPr lang="zh-CN" altLang="en-US" dirty="0">
                <a:solidFill>
                  <a:srgbClr val="000000"/>
                </a:solidFill>
                <a:sym typeface="+mn-ea"/>
              </a:rPr>
              <a:t>前端依托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Vue3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搭建跨平台网页，后端使用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FastAPI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保障服务稳定，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与数据层接入腾讯元器多智能体框架、搭配腾讯云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COS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安全存管用户数据。我们创新搭建五智能体协同工作体系，拆分咨询、文书、法条、案例、知识库五大专项智能体，分工解析法律问题；同时独创双层降级兜底机制，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服务异常时自动切换本地法律规则引擎，保证金额核算、文书生成等核心功能永不中断；搭配历史增量纠错闭环架构，全业务链路共用纠错节点，一次优化全场景生效，大幅降低后期维护成本，我们也已完成密钥、跨域等全维度安全漏洞整改，保障用户隐私与数据安全。</a:t>
            </a:r>
            <a:endParaRPr lang="zh-CN" altLang="en-US" b="0" i="0" u="none" strike="noStrike" dirty="0">
              <a:solidFill>
                <a:srgbClr val="00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sym typeface="+mn-ea"/>
              </a:rPr>
              <a:t>我们没有采用单一的对话模型，而是设计了一个主工作流作为指挥中枢，它能精准识别用户类型，并将其引导至对应的垂直维权路径。同时，后台的全局赋能中心为所有路径提供统一的法规和案例支持。这种设计不仅保证了法律逻辑的严谨和安全，还大大提升了交互的清晰度和系统效率。</a:t>
            </a:r>
            <a:endParaRPr lang="en-US" altLang="zh-CN" b="0" i="0" u="none" strike="noStrike" dirty="0">
              <a:solidFill>
                <a:srgbClr val="00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en-US" altLang="zh-CN" dirty="0" err="1">
                <a:solidFill>
                  <a:srgbClr val="000000"/>
                </a:solidFill>
                <a:sym typeface="+mn-ea"/>
              </a:rPr>
              <a:t>接下来，我们介绍系统的</a:t>
            </a:r>
            <a:r>
              <a:rPr lang="zh-CN" altLang="en-US" dirty="0" err="1">
                <a:solidFill>
                  <a:srgbClr val="000000"/>
                </a:solidFill>
                <a:sym typeface="+mn-ea"/>
              </a:rPr>
              <a:t>子工作流</a:t>
            </a:r>
            <a:r>
              <a:rPr lang="en-US" altLang="zh-CN" dirty="0" err="1">
                <a:solidFill>
                  <a:srgbClr val="000000"/>
                </a:solidFill>
                <a:sym typeface="+mn-ea"/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altLang="zh-CN" dirty="0" err="1">
                <a:solidFill>
                  <a:srgbClr val="000000"/>
                </a:solidFill>
                <a:sym typeface="+mn-ea"/>
              </a:rPr>
              <a:t>首先是精准的身份类型智能判定。我们知道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，“</a:t>
            </a:r>
            <a:r>
              <a:rPr lang="en-US" altLang="zh-CN" dirty="0" err="1">
                <a:solidFill>
                  <a:srgbClr val="000000"/>
                </a:solidFill>
                <a:sym typeface="+mn-ea"/>
              </a:rPr>
              <a:t>定性”是维权的第一步，也是最关键的一步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。</a:t>
            </a:r>
            <a:endParaRPr lang="en-US" altLang="zh-CN" b="0" i="0" u="none" strike="noStrik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为此，我们设计了一个交互式问答流程，通过几个简单的问题，系统就能帮助用户准确判断自己属于“正式工”、“劳务派遣”、“实习生”还是“平台工”，并为后续的所有服务自动匹配正确的法律依据。这一设计有效降低了用户的使用门槛，也为我们的服务准确性提供了坚实基础。</a:t>
            </a:r>
            <a:endParaRPr lang="en-US" altLang="zh-CN" b="0" i="0" u="none" strike="noStrike" dirty="0">
              <a:solidFill>
                <a:srgbClr val="00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zh-CN" altLang="en-US" dirty="0">
                <a:solidFill>
                  <a:srgbClr val="000000"/>
                </a:solidFill>
                <a:sym typeface="+mn-ea"/>
              </a:rPr>
              <a:t>接下来进入项目三大核心技术创新，第一点：多智能体协同对话架构。我们拆分出咨询、文书、法条、案例、知识库五大专项智能体，分工拆解劳动者的维权提问，再依托自研结构化解析引擎，把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回答固定拆分为问题复述、法律依据、法条分析、实操建议四个标准化模块，从根源避免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胡说、答非所问，让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输出听得懂、法律逻辑靠得住。</a:t>
            </a:r>
            <a:endParaRPr lang="zh-CN" altLang="en-US" b="0" i="0" u="none" strike="noStrik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dirty="0">
                <a:solidFill>
                  <a:srgbClr val="000000"/>
                </a:solidFill>
                <a:sym typeface="+mn-ea"/>
              </a:rPr>
              <a:t>第二大创新：全流程一站式闭环服务。区别于市面上零散的法律咨询小程序，我们打通劳动维权全业务链路：从用工身份智能判别、在线法律咨询、证据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OCR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解析、法条案例检索，到赔偿金额核算、仲裁文书一键生成，劳动者全套仲裁筹备工作，在单个系统内就能闭环落地，不用跨多个平台来回切换。</a:t>
            </a:r>
            <a:endParaRPr lang="zh-CN" altLang="en-US" b="0" i="0" u="none" strike="noStrik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dirty="0">
                <a:solidFill>
                  <a:srgbClr val="000000"/>
                </a:solidFill>
                <a:sym typeface="+mn-ea"/>
              </a:rPr>
              <a:t>第三项关键创新：双层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降级兜底稳健架构，解决行业普遍存在的大模型宕机、接口异常问题。第一层做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API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接口容错，探测 400 异常后自动重试、切换报文格式；第二层搭建本地规则引擎兜底，一旦云端 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AI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服务失效，系统无缝切到本地法律预设库，补偿金核计算等核心功能照常运行，计算结果全程可复核、精准透明，保障系统 7×24 小时稳定可用。</a:t>
            </a:r>
            <a:endParaRPr lang="zh-CN" altLang="en-US" b="0" i="0" u="none" strike="noStrike" dirty="0">
              <a:solidFill>
                <a:srgbClr val="00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自动化文书起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草</a:t>
            </a:r>
            <a:endParaRPr lang="en-US" altLang="zh-CN" b="0" i="0" u="none" strike="noStrike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用户只需上传相关证据材料，系统就能通过OCR技术自动提取关键信息，并一键生成规范的《仲裁申请书》。</a:t>
            </a:r>
            <a:endParaRPr lang="en-US" altLang="zh-CN" b="0" i="0" u="none" strike="noStrike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同时，我们还提供了智能金额估算功能，能够根据法律规定，精确计算出经济补偿金、加班费等各项金额，并展示详细的计算过程，让用户对自己的权益一目了然。</a:t>
            </a:r>
            <a:endParaRPr lang="en-US" altLang="zh-CN" b="0" i="0" u="none" strike="noStrike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0000"/>
                </a:solidFill>
                <a:sym typeface="+mn-ea"/>
              </a:rPr>
              <a:t>第四个核心功能是权威的案例与法规检索。我们利用RAG技术，增强了大模型的检索能力。当用户输入案情后，系统不仅能检索到相似的判例，还能提供法院的判定逻辑和胜诉风险评估。同时，系统也能实时匹配最新的法律法规，并展示法条原文和权威解读。这为用户提供了坚实的决策依据，确保了我们建议的专业性和权威性。</a:t>
            </a:r>
            <a:endParaRPr lang="en-US" altLang="zh-CN" b="0" i="0" u="none" strike="noStrike" dirty="0">
              <a:solidFill>
                <a:srgbClr val="00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我们的纠错循环既支持一次修改多项，也可分步进行，每次修改都能叠加更新，通过全局变量 </a:t>
            </a:r>
            <a:r>
              <a:rPr lang="en-US" altLang="zh-CN"/>
              <a:t>history </a:t>
            </a:r>
            <a:r>
              <a:rPr lang="zh-CN" altLang="en-US"/>
              <a:t>实现了变量值的持续更新和追踪。”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>
                <a:sym typeface="+mn-ea"/>
              </a:rPr>
              <a:t>根据评委反馈，我们快速修复了三大安全问题：硬编码 </a:t>
            </a:r>
            <a:r>
              <a:rPr lang="en-US" altLang="zh-CN" b="1">
                <a:sym typeface="+mn-ea"/>
              </a:rPr>
              <a:t>API Key、</a:t>
            </a:r>
            <a:r>
              <a:rPr lang="zh-CN" altLang="en-US" b="1">
                <a:sym typeface="+mn-ea"/>
              </a:rPr>
              <a:t>固定短信验证码明文暴露、</a:t>
            </a:r>
            <a:r>
              <a:rPr lang="en-US" altLang="zh-CN" b="1">
                <a:sym typeface="+mn-ea"/>
              </a:rPr>
              <a:t>CORS </a:t>
            </a:r>
            <a:r>
              <a:rPr lang="zh-CN" altLang="en-US" b="1">
                <a:sym typeface="+mn-ea"/>
              </a:rPr>
              <a:t>通配符跨域风险，目前已全部整改完成。</a:t>
            </a:r>
            <a:endParaRPr lang="zh-CN" altLang="en-US" b="1"/>
          </a:p>
          <a:p>
            <a:r>
              <a:rPr lang="zh-CN" altLang="en-US" b="1">
                <a:sym typeface="+mn-ea"/>
              </a:rPr>
              <a:t>首先，硬编码密钥：我们把代码里写死的腾讯云密钥全部移除，统一放入 .</a:t>
            </a:r>
            <a:r>
              <a:rPr lang="en-US" altLang="zh-CN" b="1">
                <a:sym typeface="+mn-ea"/>
              </a:rPr>
              <a:t>env </a:t>
            </a:r>
            <a:r>
              <a:rPr lang="zh-CN" altLang="en-US" b="1">
                <a:sym typeface="+mn-ea"/>
              </a:rPr>
              <a:t>环境变量管理。</a:t>
            </a:r>
            <a:endParaRPr lang="zh-CN" altLang="en-US" b="1"/>
          </a:p>
          <a:p>
            <a:r>
              <a:rPr lang="zh-CN" altLang="en-US" b="1">
                <a:sym typeface="+mn-ea"/>
              </a:rPr>
              <a:t>第二，短信验证码安全：取消前端固定验证码展示，后端不再返回明文验证码，开发环境自动生成随机码仅打印在服务端日志，生产环境强制对接真实短信服务。</a:t>
            </a:r>
            <a:endParaRPr lang="zh-CN" altLang="en-US" b="1"/>
          </a:p>
          <a:p>
            <a:r>
              <a:rPr lang="zh-CN" altLang="en-US" b="1">
                <a:sym typeface="+mn-ea"/>
              </a:rPr>
              <a:t>第三，</a:t>
            </a:r>
            <a:r>
              <a:rPr lang="en-US" altLang="zh-CN" b="1">
                <a:sym typeface="+mn-ea"/>
              </a:rPr>
              <a:t>CORS </a:t>
            </a:r>
            <a:r>
              <a:rPr lang="zh-CN" altLang="en-US" b="1">
                <a:sym typeface="+mn-ea"/>
              </a:rPr>
              <a:t>跨域加固：将通配符 * 改为精准域名授权，开发环境允许本地端口，生产环境配置真实域名，符合浏览器安全规范。</a:t>
            </a:r>
            <a:endParaRPr lang="zh-CN" altLang="en-US" b="1"/>
          </a:p>
          <a:p>
            <a:r>
              <a:rPr lang="zh-CN" altLang="en-US" b="1">
                <a:sym typeface="+mn-ea"/>
              </a:rPr>
              <a:t>同时我们新增</a:t>
            </a:r>
            <a:r>
              <a:rPr lang="en-US" altLang="zh-CN" b="1">
                <a:sym typeface="+mn-ea"/>
              </a:rPr>
              <a:t>JWT </a:t>
            </a:r>
            <a:r>
              <a:rPr lang="zh-CN" altLang="en-US" b="1">
                <a:sym typeface="+mn-ea"/>
              </a:rPr>
              <a:t>密钥自动加固，开发环境随机生成，生产环境必须配置强密钥，否则无法启动。</a:t>
            </a:r>
            <a:endParaRPr lang="zh-CN" altLang="en-US" b="1"/>
          </a:p>
          <a:p>
            <a:r>
              <a:rPr lang="zh-CN" altLang="en-US" b="1">
                <a:sym typeface="+mn-ea"/>
              </a:rPr>
              <a:t>本次优化实现三大高危漏洞 100% 修复，建立配置中心化、环境隔离、启动校验的安全机制，项目已达到生产级安全标准。</a:t>
            </a:r>
            <a:endParaRPr lang="zh-CN" altLang="en-US" b="1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劳动维权领域，劳动者面临的首要难题就是劳动关系身份定性，定性错误会直接导致整个维权方向偏离。</a:t>
            </a:r>
          </a:p>
          <a:p>
            <a:r>
              <a:rPr lang="zh-CN" altLang="en-US">
                <a:sym typeface="+mn-ea"/>
              </a:rPr>
              <a:t>我们依托多维度数据分析与智能识别技术，打造智能判定匹配体系，从根源破解行业痛点，保障法律服务起步阶段就兼具准确性与公正性。</a:t>
            </a:r>
            <a:r>
              <a:rPr lang="en-US" altLang="zh-CN">
                <a:sym typeface="+mn-ea"/>
              </a:rPr>
              <a:t>
</a:t>
            </a:r>
            <a:r>
              <a:rPr lang="zh-CN" altLang="en-US">
                <a:sym typeface="+mn-ea"/>
              </a:rPr>
              <a:t>依托腾讯元器的一主多翼架构，我们构建出专业化法律智能体矩阵，既实现复杂法律逻辑的深度拆解，又完成全业务流程的自动化处理，用技术架构为法律服务深度赋能。</a:t>
            </a:r>
            <a:r>
              <a:rPr lang="en-US" altLang="zh-CN">
                <a:sym typeface="+mn-ea"/>
              </a:rPr>
              <a:t>
</a:t>
            </a:r>
            <a:r>
              <a:rPr lang="zh-CN" altLang="en-US">
                <a:sym typeface="+mn-ea"/>
              </a:rPr>
              <a:t>我们打通从需求咨询、方案制定到文书生成的完整服务链路，简化交互逻辑，带来咨询即所得的流畅体验。</a:t>
            </a:r>
          </a:p>
          <a:p>
            <a:r>
              <a:rPr lang="zh-CN" altLang="en-US">
                <a:sym typeface="+mn-ea"/>
              </a:rPr>
              <a:t>同时建立生成、校验、反馈、优化的闭环纠错机制，结合专业规则库与大模型能力，保障法律输出的严谨准确，维护法律应用的严肃性。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项目以劳动者权益保护为长期目标，规划出清晰的发展路径，从三个维度持续推进产品升级。</a:t>
            </a:r>
            <a:r>
              <a:rPr lang="en-US" altLang="zh-CN">
                <a:sym typeface="+mn-ea"/>
              </a:rPr>
              <a:t>
</a:t>
            </a:r>
            <a:r>
              <a:rPr lang="zh-CN" altLang="en-US">
                <a:sym typeface="+mn-ea"/>
              </a:rPr>
              <a:t>第一维度为功能深化，项目会逐步拓展工伤认定、社保补缴等细分维权场景，覆盖更多劳动者的差异化诉求；新增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调解功能，通过算法对接促成诉前和解，进一步压缩维权成本；新增多语言服务，为不同语言背景的劳动者提供平等的维权入口。</a:t>
            </a:r>
            <a:r>
              <a:rPr lang="en-US" altLang="zh-CN">
                <a:sym typeface="+mn-ea"/>
              </a:rPr>
              <a:t>
</a:t>
            </a:r>
            <a:r>
              <a:rPr lang="zh-CN" altLang="en-US">
                <a:sym typeface="+mn-ea"/>
              </a:rPr>
              <a:t>第二维度为生态拓展，项目会对接更多法律科技服务商，整合行业资源丰富服务能力；同时搭建与工会、法律援助中心的合作渠道，打通线上线下的完整维权服务链路。</a:t>
            </a:r>
            <a:r>
              <a:rPr lang="en-US" altLang="zh-CN">
                <a:sym typeface="+mn-ea"/>
              </a:rPr>
              <a:t>
</a:t>
            </a:r>
            <a:r>
              <a:rPr lang="zh-CN" altLang="en-US">
                <a:sym typeface="+mn-ea"/>
              </a:rPr>
              <a:t>第三维度为技术演进，项目会持续优化法律大模型，提升复杂案情的推理解析能力；探索</a:t>
            </a:r>
            <a:r>
              <a:rPr lang="en-US" altLang="zh-CN">
                <a:sym typeface="+mn-ea"/>
              </a:rPr>
              <a:t>AIGC</a:t>
            </a:r>
            <a:r>
              <a:rPr lang="zh-CN" altLang="en-US">
                <a:sym typeface="+mn-ea"/>
              </a:rPr>
              <a:t>生成多类法律材料，进一步提升专业服务效率。最终我们会构建更智能开放的劳动者权益保护网络，用技术为法律赋能，让公平正义触达每一位劳动者。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69878-C3CC-42D4-BE32-9EC8BC6262B8}" type="datetimeFigureOut">
              <a:rPr lang="zh-CN" altLang="en-US" smtClean="0"/>
              <a:t>2026-09-22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F3F32-B5BD-4732-90E5-3244D49FC4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F:/&#27861;&#24459;%20AI%20&#24212;&#29992;&#21019;&#26032;&#19982;&#23454;&#36341;/&#21151;&#33021;&#28436;&#31034;.mp4" TargetMode="External"/><Relationship Id="rId1" Type="http://schemas.microsoft.com/office/2007/relationships/media" Target="file:///F:/&#27861;&#24459;%20AI%20&#24212;&#29992;&#21019;&#26032;&#19982;&#23454;&#36341;/&#21151;&#33021;&#28436;&#31034;.mp4" TargetMode="External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9000" y="736600"/>
            <a:ext cx="228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>
                <a:solidFill>
                  <a:srgbClr val="142033"/>
                </a:solidFill>
                <a:latin typeface="微软雅黑" panose="020B0503020204020204" pitchFamily="34" charset="-122"/>
              </a:rPr>
              <a:t>目录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4400" y="1320800"/>
            <a:ext cx="228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 b="1">
                <a:solidFill>
                  <a:srgbClr val="667085"/>
                </a:solidFill>
                <a:latin typeface="微软雅黑" panose="020B0503020204020204" pitchFamily="34" charset="-122"/>
              </a:rPr>
              <a:t>CONTENTS</a:t>
            </a:r>
            <a:endParaRPr lang="zh-CN" altLang="en-US" sz="1050" b="1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4400" y="1676400"/>
            <a:ext cx="9398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905000" y="1676400"/>
            <a:ext cx="3810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1"/>
            </p:custDataLst>
          </p:nvPr>
        </p:nvSpPr>
        <p:spPr>
          <a:xfrm>
            <a:off x="1524000" y="2184400"/>
            <a:ext cx="9144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2"/>
            </p:custDataLst>
          </p:nvPr>
        </p:nvSpPr>
        <p:spPr>
          <a:xfrm>
            <a:off x="1828800" y="2286000"/>
            <a:ext cx="635000" cy="3810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2374900"/>
            <a:ext cx="63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11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2870200" y="2298700"/>
            <a:ext cx="1905000" cy="253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背景痛点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4953000" y="2336800"/>
            <a:ext cx="4953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劳动争议规模与普通劳动者维权准备难点</a:t>
            </a:r>
          </a:p>
        </p:txBody>
      </p:sp>
      <p:sp>
        <p:nvSpPr>
          <p:cNvPr id="11" name="矩形: 圆角 10"/>
          <p:cNvSpPr/>
          <p:nvPr>
            <p:custDataLst>
              <p:tags r:id="rId6"/>
            </p:custDataLst>
          </p:nvPr>
        </p:nvSpPr>
        <p:spPr>
          <a:xfrm>
            <a:off x="1524000" y="2997200"/>
            <a:ext cx="9144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>
            <p:custDataLst>
              <p:tags r:id="rId7"/>
            </p:custDataLst>
          </p:nvPr>
        </p:nvSpPr>
        <p:spPr>
          <a:xfrm>
            <a:off x="1828800" y="3098800"/>
            <a:ext cx="635000" cy="3810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828800" y="3187700"/>
            <a:ext cx="63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11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2870200" y="3111500"/>
            <a:ext cx="1905000" cy="253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解决方案</a:t>
            </a: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4953000" y="3149600"/>
            <a:ext cx="4953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</a:t>
            </a: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引导的劳动维权准备工作台与流程闭环</a:t>
            </a:r>
          </a:p>
        </p:txBody>
      </p:sp>
      <p:sp>
        <p:nvSpPr>
          <p:cNvPr id="16" name="矩形: 圆角 15"/>
          <p:cNvSpPr/>
          <p:nvPr>
            <p:custDataLst>
              <p:tags r:id="rId11"/>
            </p:custDataLst>
          </p:nvPr>
        </p:nvSpPr>
        <p:spPr>
          <a:xfrm>
            <a:off x="1524000" y="3810000"/>
            <a:ext cx="9144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>
            <p:custDataLst>
              <p:tags r:id="rId12"/>
            </p:custDataLst>
          </p:nvPr>
        </p:nvSpPr>
        <p:spPr>
          <a:xfrm>
            <a:off x="1828800" y="3911600"/>
            <a:ext cx="635000" cy="381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1828800" y="4000500"/>
            <a:ext cx="63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11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2870200" y="3924300"/>
            <a:ext cx="1905000" cy="253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技术架构</a:t>
            </a: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4953000" y="3962400"/>
            <a:ext cx="4953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三层架构、主工作流与技术创新能力</a:t>
            </a:r>
          </a:p>
        </p:txBody>
      </p:sp>
      <p:sp>
        <p:nvSpPr>
          <p:cNvPr id="21" name="矩形: 圆角 20"/>
          <p:cNvSpPr/>
          <p:nvPr>
            <p:custDataLst>
              <p:tags r:id="rId16"/>
            </p:custDataLst>
          </p:nvPr>
        </p:nvSpPr>
        <p:spPr>
          <a:xfrm>
            <a:off x="1524000" y="4622800"/>
            <a:ext cx="9144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>
            <p:custDataLst>
              <p:tags r:id="rId17"/>
            </p:custDataLst>
          </p:nvPr>
        </p:nvSpPr>
        <p:spPr>
          <a:xfrm>
            <a:off x="1828800" y="4724400"/>
            <a:ext cx="635000" cy="381000"/>
          </a:xfrm>
          <a:prstGeom prst="round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1828800" y="4813300"/>
            <a:ext cx="63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11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2870200" y="4737100"/>
            <a:ext cx="1905000" cy="253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核心功能</a:t>
            </a:r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4953000" y="4775200"/>
            <a:ext cx="4953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身份判定、案例法规检索、文书生成与应用实践</a:t>
            </a:r>
          </a:p>
        </p:txBody>
      </p:sp>
      <p:sp>
        <p:nvSpPr>
          <p:cNvPr id="26" name="矩形: 圆角 25"/>
          <p:cNvSpPr/>
          <p:nvPr>
            <p:custDataLst>
              <p:tags r:id="rId21"/>
            </p:custDataLst>
          </p:nvPr>
        </p:nvSpPr>
        <p:spPr>
          <a:xfrm>
            <a:off x="1524000" y="5435600"/>
            <a:ext cx="9144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>
            <p:custDataLst>
              <p:tags r:id="rId22"/>
            </p:custDataLst>
          </p:nvPr>
        </p:nvSpPr>
        <p:spPr>
          <a:xfrm>
            <a:off x="1828800" y="5537200"/>
            <a:ext cx="635000" cy="381000"/>
          </a:xfrm>
          <a:prstGeom prst="roundRect">
            <a:avLst/>
          </a:prstGeom>
          <a:solidFill>
            <a:srgbClr val="647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1828800" y="5626100"/>
            <a:ext cx="63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FFFFFF"/>
                </a:solidFill>
                <a:latin typeface="微软雅黑" panose="020B0503020204020204" pitchFamily="34" charset="-122"/>
              </a:rPr>
              <a:t>05</a:t>
            </a:r>
            <a:endParaRPr lang="zh-CN" altLang="en-US" sz="11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2870200" y="5549900"/>
            <a:ext cx="1905000" cy="2533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成果价值</a:t>
            </a:r>
          </a:p>
        </p:txBody>
      </p:sp>
      <p:sp>
        <p:nvSpPr>
          <p:cNvPr id="30" name="文本框 29"/>
          <p:cNvSpPr txBox="1"/>
          <p:nvPr>
            <p:custDataLst>
              <p:tags r:id="rId25"/>
            </p:custDataLst>
          </p:nvPr>
        </p:nvSpPr>
        <p:spPr>
          <a:xfrm>
            <a:off x="4953000" y="5588000"/>
            <a:ext cx="4953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作品优势、社会价值与后续规划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890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02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 5"/>
          <p:cNvSpPr/>
          <p:nvPr/>
        </p:nvSpPr>
        <p:spPr>
          <a:xfrm>
            <a:off x="43688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劳动争议高频发生，维权准备仍然很重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案件规模、争议类型和材料要求共同构成需求痛点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02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711200" y="2006600"/>
            <a:ext cx="2413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11200" y="2006600"/>
            <a:ext cx="50800" cy="1092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14400" y="2159000"/>
            <a:ext cx="1778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2563EB"/>
                </a:solidFill>
                <a:latin typeface="微软雅黑" panose="020B0503020204020204" pitchFamily="34" charset="-122"/>
              </a:rPr>
              <a:t>425.7</a:t>
            </a:r>
            <a:endParaRPr lang="zh-CN" altLang="en-US" sz="2700" b="1">
              <a:solidFill>
                <a:srgbClr val="2563E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578100" y="2349500"/>
            <a:ext cx="4318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870" b="1">
                <a:solidFill>
                  <a:srgbClr val="2563EB"/>
                </a:solidFill>
                <a:latin typeface="微软雅黑" panose="020B0503020204020204" pitchFamily="34" charset="-122"/>
              </a:rPr>
              <a:t>万件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14400" y="2641600"/>
            <a:ext cx="2082800" cy="1431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30" b="1">
                <a:solidFill>
                  <a:srgbClr val="667085"/>
                </a:solidFill>
                <a:latin typeface="微软雅黑" panose="020B0503020204020204" pitchFamily="34" charset="-122"/>
              </a:rPr>
              <a:t>全年办理争议案件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3429000" y="2006600"/>
            <a:ext cx="2413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429000" y="2006600"/>
            <a:ext cx="50800" cy="10922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632200" y="2159000"/>
            <a:ext cx="1778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14B8A6"/>
                </a:solidFill>
                <a:latin typeface="微软雅黑" panose="020B0503020204020204" pitchFamily="34" charset="-122"/>
              </a:rPr>
              <a:t>454.9</a:t>
            </a:r>
            <a:endParaRPr lang="zh-CN" altLang="en-US" sz="2700" b="1">
              <a:solidFill>
                <a:srgbClr val="14B8A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95900" y="2349500"/>
            <a:ext cx="4318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870" b="1">
                <a:solidFill>
                  <a:srgbClr val="14B8A6"/>
                </a:solidFill>
                <a:latin typeface="微软雅黑" panose="020B0503020204020204" pitchFamily="34" charset="-122"/>
              </a:rPr>
              <a:t>万人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632200" y="2641600"/>
            <a:ext cx="2082800" cy="1431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30" b="1">
                <a:solidFill>
                  <a:srgbClr val="667085"/>
                </a:solidFill>
                <a:latin typeface="微软雅黑" panose="020B0503020204020204" pitchFamily="34" charset="-122"/>
              </a:rPr>
              <a:t>涉及劳动者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6146800" y="2006600"/>
            <a:ext cx="2413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6146800" y="2006600"/>
            <a:ext cx="50800" cy="1092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350000" y="2159000"/>
            <a:ext cx="1778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F59E0B"/>
                </a:solidFill>
                <a:latin typeface="微软雅黑" panose="020B0503020204020204" pitchFamily="34" charset="-122"/>
              </a:rPr>
              <a:t>934.7</a:t>
            </a:r>
            <a:endParaRPr lang="zh-CN" altLang="en-US" sz="2700" b="1">
              <a:solidFill>
                <a:srgbClr val="F59E0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013700" y="2349500"/>
            <a:ext cx="4318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870" b="1">
                <a:solidFill>
                  <a:srgbClr val="F59E0B"/>
                </a:solidFill>
                <a:latin typeface="微软雅黑" panose="020B0503020204020204" pitchFamily="34" charset="-122"/>
              </a:rPr>
              <a:t>亿元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350000" y="2641600"/>
            <a:ext cx="2082800" cy="1431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30" b="1">
                <a:solidFill>
                  <a:srgbClr val="667085"/>
                </a:solidFill>
                <a:latin typeface="微软雅黑" panose="020B0503020204020204" pitchFamily="34" charset="-122"/>
              </a:rPr>
              <a:t>结案金额</a:t>
            </a:r>
          </a:p>
        </p:txBody>
      </p:sp>
      <p:sp>
        <p:nvSpPr>
          <p:cNvPr id="36" name="矩形: 圆角 35"/>
          <p:cNvSpPr/>
          <p:nvPr/>
        </p:nvSpPr>
        <p:spPr>
          <a:xfrm>
            <a:off x="8864600" y="2006600"/>
            <a:ext cx="2413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8864600" y="2006600"/>
            <a:ext cx="50800" cy="1092200"/>
          </a:xfrm>
          <a:prstGeom prst="rect">
            <a:avLst/>
          </a:prstGeom>
          <a:solidFill>
            <a:srgbClr val="647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067800" y="2159000"/>
            <a:ext cx="1778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64748B"/>
                </a:solidFill>
                <a:latin typeface="微软雅黑" panose="020B0503020204020204" pitchFamily="34" charset="-122"/>
              </a:rPr>
              <a:t>98.2</a:t>
            </a:r>
            <a:endParaRPr lang="zh-CN" altLang="en-US" sz="270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731500" y="2349500"/>
            <a:ext cx="431800" cy="133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870" b="1">
                <a:solidFill>
                  <a:srgbClr val="64748B"/>
                </a:solidFill>
                <a:latin typeface="微软雅黑" panose="020B0503020204020204" pitchFamily="34" charset="-122"/>
              </a:rPr>
              <a:t>%</a:t>
            </a:r>
            <a:endParaRPr lang="zh-CN" altLang="en-US" sz="870" b="1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067800" y="2641600"/>
            <a:ext cx="2082800" cy="1431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30" b="1">
                <a:solidFill>
                  <a:srgbClr val="667085"/>
                </a:solidFill>
                <a:latin typeface="微软雅黑" panose="020B0503020204020204" pitchFamily="34" charset="-122"/>
              </a:rPr>
              <a:t>仲裁结案率</a:t>
            </a:r>
          </a:p>
        </p:txBody>
      </p:sp>
      <p:sp>
        <p:nvSpPr>
          <p:cNvPr id="41" name="矩形 40"/>
          <p:cNvSpPr/>
          <p:nvPr/>
        </p:nvSpPr>
        <p:spPr>
          <a:xfrm>
            <a:off x="711200" y="3530600"/>
            <a:ext cx="5181600" cy="23876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75" y="3632200"/>
            <a:ext cx="2838450" cy="1892300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812800" y="3632200"/>
            <a:ext cx="4978400" cy="18923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63600" y="5664200"/>
            <a:ext cx="4876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全国劳动人事争议仲裁情况</a:t>
            </a:r>
          </a:p>
        </p:txBody>
      </p:sp>
      <p:sp>
        <p:nvSpPr>
          <p:cNvPr id="46" name="矩形 45"/>
          <p:cNvSpPr/>
          <p:nvPr/>
        </p:nvSpPr>
        <p:spPr>
          <a:xfrm>
            <a:off x="6299200" y="3530600"/>
            <a:ext cx="4978400" cy="23876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175" y="3632200"/>
            <a:ext cx="2838450" cy="1892300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6400800" y="3632200"/>
            <a:ext cx="4775200" cy="18923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6451600" y="5664200"/>
            <a:ext cx="4673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劳动争议热点类型分析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727200" y="6184900"/>
            <a:ext cx="8890000" cy="2457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667085"/>
                </a:solidFill>
                <a:latin typeface="微软雅黑" panose="020B0503020204020204" pitchFamily="34" charset="-122"/>
              </a:rPr>
              <a:t>争议规模大、类型复杂，产品需要同时解决专业判断、材料准备与流程效率问题。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 5"/>
          <p:cNvSpPr/>
          <p:nvPr/>
        </p:nvSpPr>
        <p:spPr>
          <a:xfrm>
            <a:off x="43688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痛点不在“是否维权”，而在“如何准备”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普通劳动者需要的是能一步步带着走的法律助手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03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5800" y="2006600"/>
            <a:ext cx="3302000" cy="180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2108200"/>
            <a:ext cx="1600200" cy="16002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787400" y="2108200"/>
            <a:ext cx="3098800" cy="16002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>
            <a:off x="685800" y="4064000"/>
            <a:ext cx="3302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85800" y="4064000"/>
            <a:ext cx="50800" cy="157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01700" y="4241800"/>
            <a:ext cx="2921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身份定性难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01700" y="4622800"/>
            <a:ext cx="29210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难以区分劳动关系、劳务关系、不完全劳动关系，平台用工场景更容易误判。</a:t>
            </a:r>
          </a:p>
        </p:txBody>
      </p:sp>
      <p:sp>
        <p:nvSpPr>
          <p:cNvPr id="29" name="矩形 28"/>
          <p:cNvSpPr/>
          <p:nvPr/>
        </p:nvSpPr>
        <p:spPr>
          <a:xfrm>
            <a:off x="4521200" y="2006600"/>
            <a:ext cx="3302000" cy="180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00" y="2108200"/>
            <a:ext cx="1600200" cy="1600200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4622800" y="2108200"/>
            <a:ext cx="3098800" cy="16002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/>
          <p:cNvSpPr/>
          <p:nvPr/>
        </p:nvSpPr>
        <p:spPr>
          <a:xfrm>
            <a:off x="4521200" y="4064000"/>
            <a:ext cx="3302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521200" y="4064000"/>
            <a:ext cx="50800" cy="1574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737100" y="4241800"/>
            <a:ext cx="2921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信息筛选难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737100" y="4622800"/>
            <a:ext cx="29210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面对海量法条、案例和术语，用户很难判断哪些信息真正适用于自己的案情。</a:t>
            </a:r>
          </a:p>
        </p:txBody>
      </p:sp>
      <p:sp>
        <p:nvSpPr>
          <p:cNvPr id="37" name="矩形 36"/>
          <p:cNvSpPr/>
          <p:nvPr/>
        </p:nvSpPr>
        <p:spPr>
          <a:xfrm>
            <a:off x="8356600" y="2006600"/>
            <a:ext cx="3302000" cy="18034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500" y="2108200"/>
            <a:ext cx="1600200" cy="160020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8458200" y="2108200"/>
            <a:ext cx="3098800" cy="16002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/>
          <p:cNvSpPr/>
          <p:nvPr/>
        </p:nvSpPr>
        <p:spPr>
          <a:xfrm>
            <a:off x="8356600" y="4064000"/>
            <a:ext cx="3302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356600" y="4064000"/>
            <a:ext cx="50800" cy="1574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8572500" y="4241800"/>
            <a:ext cx="2921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材料准备难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572500" y="4622800"/>
            <a:ext cx="29210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证据整理、金额计算和申请书撰写耗时耗钱，材料不规范还会反复补正。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914400" y="5918200"/>
            <a:ext cx="10363200" cy="406400"/>
          </a:xfrm>
          <a:prstGeom prst="roundRect">
            <a:avLst/>
          </a:prstGeom>
          <a:solidFill>
            <a:srgbClr val="E7F8F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168400" y="6019800"/>
            <a:ext cx="9855200" cy="2457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产品切入：把法律实务中的判断路径、证据清单和文书模板沉淀为可交互工作流。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 7"/>
          <p:cNvSpPr/>
          <p:nvPr/>
        </p:nvSpPr>
        <p:spPr>
          <a:xfrm>
            <a:off x="60071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解决方案：</a:t>
            </a:r>
            <a:r>
              <a:rPr lang="en-US" altLang="zh-CN" sz="2750" b="1">
                <a:solidFill>
                  <a:srgbClr val="142033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引导的劳动维权准备工作台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围绕“低门槛输入、专业化判断、标准化输出”形成产品闭环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04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6600" y="2006600"/>
            <a:ext cx="5969000" cy="31750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85930"/>
            <a:ext cx="5765800" cy="252424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838200" y="2108200"/>
            <a:ext cx="5765800" cy="26797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89000" y="4927600"/>
            <a:ext cx="5664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系统首页与功能入口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315200" y="19558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F766E"/>
                </a:solidFill>
                <a:latin typeface="微软雅黑" panose="020B0503020204020204" pitchFamily="34" charset="-122"/>
              </a:rPr>
              <a:t>产品定位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315200" y="2336800"/>
            <a:ext cx="3937000" cy="6832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80" b="1">
                <a:solidFill>
                  <a:srgbClr val="142033"/>
                </a:solidFill>
                <a:latin typeface="微软雅黑" panose="020B0503020204020204" pitchFamily="34" charset="-122"/>
              </a:rPr>
              <a:t>面向普通劳动者的自动化法律助手，把专业流程拆成可回答、可上传、可校验、可生成的操作步骤。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7188200" y="3276600"/>
            <a:ext cx="40386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188200" y="3276600"/>
            <a:ext cx="50800" cy="812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7404100" y="3505200"/>
            <a:ext cx="381000" cy="3810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404100" y="35687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937500" y="3454400"/>
            <a:ext cx="30861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消除知识不对称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937500" y="3835400"/>
            <a:ext cx="30861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引导式问答完成身份界定、纠纷判断与风险提示。</a:t>
            </a:r>
          </a:p>
        </p:txBody>
      </p:sp>
      <p:sp>
        <p:nvSpPr>
          <p:cNvPr id="34" name="矩形: 圆角 33"/>
          <p:cNvSpPr/>
          <p:nvPr/>
        </p:nvSpPr>
        <p:spPr>
          <a:xfrm>
            <a:off x="7188200" y="4267200"/>
            <a:ext cx="40386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188200" y="4267200"/>
            <a:ext cx="50800" cy="812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/>
          <p:cNvSpPr/>
          <p:nvPr/>
        </p:nvSpPr>
        <p:spPr>
          <a:xfrm>
            <a:off x="7404100" y="4495800"/>
            <a:ext cx="381000" cy="3810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404100" y="45593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937500" y="4445000"/>
            <a:ext cx="30861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降低操作门槛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835265" y="4787900"/>
            <a:ext cx="3333750" cy="1714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20">
                <a:solidFill>
                  <a:srgbClr val="667085"/>
                </a:solidFill>
                <a:latin typeface="微软雅黑" panose="020B0503020204020204" pitchFamily="34" charset="-122"/>
              </a:rPr>
              <a:t>OCR </a:t>
            </a:r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识别、证据分类、金额计算把复杂环节工具化。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7188200" y="5257800"/>
            <a:ext cx="40386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7188200" y="5257800"/>
            <a:ext cx="50800" cy="812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/>
          <p:cNvSpPr/>
          <p:nvPr/>
        </p:nvSpPr>
        <p:spPr>
          <a:xfrm>
            <a:off x="7404100" y="5486400"/>
            <a:ext cx="381000" cy="381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404100" y="55499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937500" y="5435600"/>
            <a:ext cx="30861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提升解决效率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7937500" y="5725795"/>
            <a:ext cx="3231515" cy="3435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自动生成仲裁申请书与证据目录，助力一次性提交合格材料。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 9"/>
          <p:cNvSpPr/>
          <p:nvPr/>
        </p:nvSpPr>
        <p:spPr>
          <a:xfrm>
            <a:off x="76454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三层架构支撑可用、可扩展、可校验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从用户终端、业务服务到数据与 AI 层，明确每一层的工程职责</a:t>
            </a:r>
            <a:endParaRPr lang="zh-CN" altLang="en-US" sz="123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06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63600" y="2108200"/>
            <a:ext cx="4291965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63600" y="2108200"/>
            <a:ext cx="88900" cy="990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219200" y="2336800"/>
            <a:ext cx="172720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微软雅黑" panose="020B0503020204020204" pitchFamily="34" charset="-122"/>
              </a:rPr>
              <a:t>用户终端层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432050" y="2311400"/>
            <a:ext cx="2514600" cy="561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667085"/>
                </a:solidFill>
                <a:latin typeface="微软雅黑" panose="020B0503020204020204" pitchFamily="34" charset="-122"/>
              </a:rPr>
              <a:t>Vue 3 </a:t>
            </a:r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响应式网页</a:t>
            </a:r>
          </a:p>
          <a:p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跨平台访问、问卷交互、材料上传、结果预览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6096000" y="3124200"/>
            <a:ext cx="0" cy="228600"/>
          </a:xfrm>
          <a:prstGeom prst="line">
            <a:avLst/>
          </a:prstGeom>
          <a:ln w="17780">
            <a:solidFill>
              <a:srgbClr val="B8C4D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/>
          <p:cNvSpPr/>
          <p:nvPr/>
        </p:nvSpPr>
        <p:spPr>
          <a:xfrm>
            <a:off x="863600" y="3378200"/>
            <a:ext cx="4337685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63600" y="3378200"/>
            <a:ext cx="88900" cy="9906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219200" y="3606800"/>
            <a:ext cx="172720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微软雅黑" panose="020B0503020204020204" pitchFamily="34" charset="-122"/>
              </a:rPr>
              <a:t>业务服务层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476500" y="3581400"/>
            <a:ext cx="2609850" cy="561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667085"/>
                </a:solidFill>
                <a:latin typeface="微软雅黑" panose="020B0503020204020204" pitchFamily="34" charset="-122"/>
              </a:rPr>
              <a:t>FastAPI </a:t>
            </a:r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后端服务</a:t>
            </a:r>
          </a:p>
          <a:p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会话管理、任务编排、文书生成、接口鉴权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6096000" y="4394200"/>
            <a:ext cx="0" cy="228600"/>
          </a:xfrm>
          <a:prstGeom prst="line">
            <a:avLst/>
          </a:prstGeom>
          <a:ln w="17780">
            <a:solidFill>
              <a:srgbClr val="B8C4D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/>
          <p:cNvSpPr/>
          <p:nvPr/>
        </p:nvSpPr>
        <p:spPr>
          <a:xfrm>
            <a:off x="862965" y="4648200"/>
            <a:ext cx="433832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863600" y="4648200"/>
            <a:ext cx="88900" cy="990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219200" y="4876800"/>
            <a:ext cx="172720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142033"/>
                </a:solidFill>
                <a:latin typeface="微软雅黑" panose="020B0503020204020204" pitchFamily="34" charset="-122"/>
              </a:rPr>
              <a:t>数据与 </a:t>
            </a:r>
            <a:r>
              <a:rPr lang="en-US" altLang="zh-CN" sz="1650" b="1">
                <a:solidFill>
                  <a:srgbClr val="142033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1650" b="1">
                <a:solidFill>
                  <a:srgbClr val="142033"/>
                </a:solidFill>
                <a:latin typeface="微软雅黑" panose="020B0503020204020204" pitchFamily="34" charset="-122"/>
              </a:rPr>
              <a:t>层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476500" y="4851400"/>
            <a:ext cx="2609850" cy="748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腾讯元器智能体 </a:t>
            </a:r>
            <a:r>
              <a:rPr lang="en-US" altLang="zh-CN" sz="1220">
                <a:solidFill>
                  <a:srgbClr val="667085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得理 </a:t>
            </a:r>
            <a:r>
              <a:rPr lang="en-US" altLang="zh-CN" sz="1220">
                <a:solidFill>
                  <a:srgbClr val="667085"/>
                </a:solidFill>
                <a:latin typeface="微软雅黑" panose="020B0503020204020204" pitchFamily="34" charset="-122"/>
              </a:rPr>
              <a:t>API + </a:t>
            </a:r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腾讯云 </a:t>
            </a:r>
            <a:r>
              <a:rPr lang="en-US" altLang="zh-CN" sz="1220">
                <a:solidFill>
                  <a:srgbClr val="667085"/>
                </a:solidFill>
                <a:latin typeface="微软雅黑" panose="020B0503020204020204" pitchFamily="34" charset="-122"/>
              </a:rPr>
              <a:t>COS + SQLite</a:t>
            </a:r>
          </a:p>
          <a:p>
            <a:r>
              <a:rPr lang="zh-CN" altLang="en-US" sz="1220">
                <a:solidFill>
                  <a:srgbClr val="667085"/>
                </a:solidFill>
                <a:latin typeface="微软雅黑" panose="020B0503020204020204" pitchFamily="34" charset="-122"/>
              </a:rPr>
              <a:t>法律检索、文件存储、状态记忆、结果校验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915" y="1940560"/>
            <a:ext cx="5798185" cy="3865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 9"/>
          <p:cNvSpPr/>
          <p:nvPr/>
        </p:nvSpPr>
        <p:spPr>
          <a:xfrm>
            <a:off x="76454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主工作流：主智能体调度专项节点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主智能体负责理解与编排，专项节点处理具体法律任务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07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5800" y="1981200"/>
            <a:ext cx="7112000" cy="39878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247" y="2082800"/>
            <a:ext cx="4787105" cy="34925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787400" y="2082800"/>
            <a:ext cx="6908800" cy="34925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8200" y="5715000"/>
            <a:ext cx="6807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主工作流架构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8153400" y="2082800"/>
            <a:ext cx="317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153400" y="2082800"/>
            <a:ext cx="50800" cy="990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8369300" y="2311400"/>
            <a:ext cx="381000" cy="3810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369300" y="23749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A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902700" y="2260600"/>
            <a:ext cx="2222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主智能体调度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902700" y="2641600"/>
            <a:ext cx="22225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负责案情理解、任务拆分、节点调用和结果汇总。</a:t>
            </a:r>
          </a:p>
        </p:txBody>
      </p:sp>
      <p:sp>
        <p:nvSpPr>
          <p:cNvPr id="32" name="矩形: 圆角 31"/>
          <p:cNvSpPr/>
          <p:nvPr/>
        </p:nvSpPr>
        <p:spPr>
          <a:xfrm>
            <a:off x="8153400" y="3327400"/>
            <a:ext cx="3175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8153400" y="3327400"/>
            <a:ext cx="50800" cy="11176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8369300" y="3556000"/>
            <a:ext cx="381000" cy="3810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369300" y="36195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B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902700" y="3505200"/>
            <a:ext cx="2222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专项节点处理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902700" y="3886200"/>
            <a:ext cx="22225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将身份判断、案例检索、金额计算、文书生成拆成专业节点。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8153400" y="4699000"/>
            <a:ext cx="3175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153400" y="4699000"/>
            <a:ext cx="50800" cy="1117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/>
          <p:cNvSpPr/>
          <p:nvPr/>
        </p:nvSpPr>
        <p:spPr>
          <a:xfrm>
            <a:off x="8369300" y="4927600"/>
            <a:ext cx="381000" cy="381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369300" y="49911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C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02700" y="4876800"/>
            <a:ext cx="2222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反馈回写纠错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8902700" y="5257800"/>
            <a:ext cx="22225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用户确认与 </a:t>
            </a:r>
            <a:r>
              <a:rPr lang="en-US" altLang="zh-CN" sz="1120">
                <a:solidFill>
                  <a:srgbClr val="667085"/>
                </a:solidFill>
                <a:latin typeface="微软雅黑" panose="020B0503020204020204" pitchFamily="34" charset="-122"/>
              </a:rPr>
              <a:t>History </a:t>
            </a:r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记忆共同形成可迭代的结果校验机制。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 9"/>
          <p:cNvSpPr/>
          <p:nvPr/>
        </p:nvSpPr>
        <p:spPr>
          <a:xfrm>
            <a:off x="76454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2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子工作流：分支智能体调度节点框架</a:t>
            </a:r>
          </a:p>
        </p:txBody>
      </p:sp>
      <p:sp>
        <p:nvSpPr>
          <p:cNvPr id="17" name="矩形 16"/>
          <p:cNvSpPr/>
          <p:nvPr/>
        </p:nvSpPr>
        <p:spPr>
          <a:xfrm>
            <a:off x="228600" y="1518285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193800" y="1518285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0" y="674116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07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1465" y="1801495"/>
            <a:ext cx="6217285" cy="4501515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92100" y="1801495"/>
            <a:ext cx="6216650" cy="4501515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4f7b9e103ea981ea230d02e859a28c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842135"/>
            <a:ext cx="6172200" cy="4460875"/>
          </a:xfrm>
          <a:prstGeom prst="rect">
            <a:avLst/>
          </a:prstGeom>
        </p:spPr>
      </p:pic>
      <p:pic>
        <p:nvPicPr>
          <p:cNvPr id="44" name="图片 43" descr="cd6fb3ac80329dbd579efbcf47230ce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850" y="1286510"/>
            <a:ext cx="5123180" cy="3843020"/>
          </a:xfrm>
          <a:prstGeom prst="rect">
            <a:avLst/>
          </a:prstGeom>
        </p:spPr>
      </p:pic>
      <p:cxnSp>
        <p:nvCxnSpPr>
          <p:cNvPr id="45" name="肘形连接符 44"/>
          <p:cNvCxnSpPr/>
          <p:nvPr/>
        </p:nvCxnSpPr>
        <p:spPr>
          <a:xfrm flipV="1">
            <a:off x="1466850" y="1987550"/>
            <a:ext cx="5422900" cy="863600"/>
          </a:xfrm>
          <a:prstGeom prst="bentConnector3">
            <a:avLst>
              <a:gd name="adj1" fmla="val 7154"/>
            </a:avLst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 9"/>
          <p:cNvSpPr/>
          <p:nvPr/>
        </p:nvSpPr>
        <p:spPr>
          <a:xfrm>
            <a:off x="76454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技术创新：多智能体、闭环服务与稳健保障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08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6600" y="1981200"/>
            <a:ext cx="10718800" cy="419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87" y="2082800"/>
            <a:ext cx="9190427" cy="39878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838200" y="2082800"/>
            <a:ext cx="10515600" cy="39878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 11"/>
          <p:cNvSpPr/>
          <p:nvPr/>
        </p:nvSpPr>
        <p:spPr>
          <a:xfrm>
            <a:off x="92837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核心功能 </a:t>
            </a:r>
            <a:r>
              <a:rPr lang="en-US" altLang="zh-CN" sz="2750" b="1">
                <a:solidFill>
                  <a:srgbClr val="142033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：劳动性质判定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问卷初筛 + 二次分流，先把法律服务的起点做准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09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36600" y="2057400"/>
            <a:ext cx="4572000" cy="32004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515" y="2159000"/>
            <a:ext cx="3380170" cy="27051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838200" y="2159000"/>
            <a:ext cx="4368800" cy="27051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89000" y="5003800"/>
            <a:ext cx="42672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劳动性质判定流程</a:t>
            </a:r>
          </a:p>
        </p:txBody>
      </p:sp>
      <p:sp>
        <p:nvSpPr>
          <p:cNvPr id="26" name="矩形 25"/>
          <p:cNvSpPr/>
          <p:nvPr/>
        </p:nvSpPr>
        <p:spPr>
          <a:xfrm>
            <a:off x="5689600" y="2057400"/>
            <a:ext cx="2660650" cy="32004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690235" y="2046605"/>
            <a:ext cx="2660015" cy="2817495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zz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842000" y="5003800"/>
            <a:ext cx="52324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正式工、劳务派遣、平台工等分流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1219200" y="5461000"/>
            <a:ext cx="9652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219200" y="5461000"/>
            <a:ext cx="50800" cy="863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435100" y="5638800"/>
            <a:ext cx="9271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为什么重要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435100" y="6019800"/>
            <a:ext cx="92710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身份定性直接影响诉求范围、证据要求和可适用法规，是后续检索与文书生成的前置条件。</a:t>
            </a:r>
          </a:p>
        </p:txBody>
      </p:sp>
      <p:pic>
        <p:nvPicPr>
          <p:cNvPr id="22" name="图片 21" descr="3f71411046a962a1606b726c466b7f7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50" y="2235835"/>
            <a:ext cx="2184400" cy="2576195"/>
          </a:xfrm>
          <a:prstGeom prst="rect">
            <a:avLst/>
          </a:prstGeom>
        </p:spPr>
      </p:pic>
      <p:pic>
        <p:nvPicPr>
          <p:cNvPr id="27" name="图片 26" descr="0911305c8d97d3c501e37a3433f882f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049655"/>
            <a:ext cx="2647950" cy="4352290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8477250" y="1049020"/>
            <a:ext cx="2649220" cy="43535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 11"/>
          <p:cNvSpPr/>
          <p:nvPr/>
        </p:nvSpPr>
        <p:spPr>
          <a:xfrm>
            <a:off x="92837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核心功能 </a:t>
            </a:r>
            <a:r>
              <a:rPr lang="en-US" altLang="zh-CN" sz="2750" b="1">
                <a:solidFill>
                  <a:srgbClr val="142033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：权威案例与法规检索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把用户事实抽象为关键词，再返回更接近案情的法规和判例线索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10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87400" y="2057400"/>
            <a:ext cx="5003800" cy="2489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676" y="2159000"/>
            <a:ext cx="3075248" cy="19939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889000" y="2159000"/>
            <a:ext cx="4800600" cy="19939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39800" y="4292600"/>
            <a:ext cx="4699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案例检索</a:t>
            </a:r>
          </a:p>
        </p:txBody>
      </p:sp>
      <p:sp>
        <p:nvSpPr>
          <p:cNvPr id="26" name="矩形 25"/>
          <p:cNvSpPr/>
          <p:nvPr/>
        </p:nvSpPr>
        <p:spPr>
          <a:xfrm>
            <a:off x="6400800" y="2057400"/>
            <a:ext cx="5003800" cy="2489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213" y="2159000"/>
            <a:ext cx="3258975" cy="199390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6502400" y="2159000"/>
            <a:ext cx="4800600" cy="19939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553200" y="4292600"/>
            <a:ext cx="4699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法规检索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812800" y="50038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/>
        </p:nvSpPr>
        <p:spPr>
          <a:xfrm>
            <a:off x="939800" y="5181600"/>
            <a:ext cx="355600" cy="3556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39800" y="5232400"/>
            <a:ext cx="3556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92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409700" y="5156200"/>
            <a:ext cx="17018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事实摘要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409700" y="5410200"/>
            <a:ext cx="1701800" cy="30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提炼主体、时间、工资、解除原因等关键要素</a:t>
            </a:r>
          </a:p>
        </p:txBody>
      </p:sp>
      <p:sp>
        <p:nvSpPr>
          <p:cNvPr id="36" name="矩形: 圆角 35"/>
          <p:cNvSpPr/>
          <p:nvPr/>
        </p:nvSpPr>
        <p:spPr>
          <a:xfrm>
            <a:off x="3441700" y="50038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3568700" y="5181600"/>
            <a:ext cx="355600" cy="3556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568700" y="5232400"/>
            <a:ext cx="3556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92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038600" y="5156200"/>
            <a:ext cx="17018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关键词抽象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4038600" y="5410200"/>
            <a:ext cx="1651000" cy="30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生成适合检索的法律语义关键词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6070600" y="50038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/>
          <p:cNvSpPr/>
          <p:nvPr/>
        </p:nvSpPr>
        <p:spPr>
          <a:xfrm>
            <a:off x="6197600" y="5181600"/>
            <a:ext cx="355600" cy="3556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6197600" y="5232400"/>
            <a:ext cx="3556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92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667500" y="5156200"/>
            <a:ext cx="17018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双通道检索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667500" y="5410200"/>
            <a:ext cx="1701800" cy="30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调用得理 </a:t>
            </a:r>
            <a:r>
              <a:rPr lang="en-US" altLang="zh-CN" sz="10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 </a:t>
            </a:r>
            <a:r>
              <a:rPr lang="zh-CN" altLang="en-US" sz="10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返回法规与相似案例</a:t>
            </a:r>
          </a:p>
        </p:txBody>
      </p:sp>
      <p:sp>
        <p:nvSpPr>
          <p:cNvPr id="46" name="矩形: 圆角 45"/>
          <p:cNvSpPr/>
          <p:nvPr/>
        </p:nvSpPr>
        <p:spPr>
          <a:xfrm>
            <a:off x="8699500" y="50038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/>
          <p:cNvSpPr/>
          <p:nvPr/>
        </p:nvSpPr>
        <p:spPr>
          <a:xfrm>
            <a:off x="8826500" y="5181600"/>
            <a:ext cx="355600" cy="3556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8826500" y="5232400"/>
            <a:ext cx="355600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2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lang="zh-CN" altLang="en-US" sz="92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296400" y="5156200"/>
            <a:ext cx="1701800" cy="1841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42033"/>
                </a:solidFill>
                <a:latin typeface="黑体" panose="02010609060101010101" charset="-122"/>
                <a:ea typeface="黑体" panose="02010609060101010101" charset="-122"/>
              </a:rPr>
              <a:t>可追溯引用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9296400" y="5410200"/>
            <a:ext cx="1701800" cy="30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将来源、适用理由与风险提示一起返回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 11"/>
          <p:cNvSpPr/>
          <p:nvPr/>
        </p:nvSpPr>
        <p:spPr>
          <a:xfrm>
            <a:off x="92837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2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核心功能 </a:t>
            </a:r>
            <a:r>
              <a:rPr lang="en-US" altLang="zh-CN" sz="2750" b="1">
                <a:solidFill>
                  <a:srgbClr val="142033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：金额估算、证据管理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11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5800" y="2057400"/>
            <a:ext cx="3149600" cy="2870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2264940"/>
            <a:ext cx="2946400" cy="2163019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787400" y="2159000"/>
            <a:ext cx="2946400" cy="23749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8200" y="4673600"/>
            <a:ext cx="2844800" cy="1250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智能体对话输出方案</a:t>
            </a:r>
          </a:p>
        </p:txBody>
      </p:sp>
      <p:sp>
        <p:nvSpPr>
          <p:cNvPr id="26" name="矩形 25"/>
          <p:cNvSpPr/>
          <p:nvPr/>
        </p:nvSpPr>
        <p:spPr>
          <a:xfrm>
            <a:off x="4521200" y="2057400"/>
            <a:ext cx="3149600" cy="2870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4622800" y="2159000"/>
            <a:ext cx="2946400" cy="23749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673600" y="4673600"/>
            <a:ext cx="2844800" cy="1250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证据目录</a:t>
            </a:r>
          </a:p>
        </p:txBody>
      </p:sp>
      <p:sp>
        <p:nvSpPr>
          <p:cNvPr id="31" name="矩形 30"/>
          <p:cNvSpPr/>
          <p:nvPr/>
        </p:nvSpPr>
        <p:spPr>
          <a:xfrm>
            <a:off x="8356600" y="2057400"/>
            <a:ext cx="3149600" cy="2870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262241"/>
            <a:ext cx="2946400" cy="2168418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8458200" y="2159000"/>
            <a:ext cx="2946400" cy="23749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509000" y="4673600"/>
            <a:ext cx="284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赔偿金额估算工具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970" y="2204720"/>
            <a:ext cx="2805430" cy="2288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584200" y="1985010"/>
            <a:ext cx="5296535" cy="293497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z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 11"/>
          <p:cNvSpPr/>
          <p:nvPr/>
        </p:nvSpPr>
        <p:spPr>
          <a:xfrm>
            <a:off x="92837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2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核心功能 </a:t>
            </a:r>
            <a:r>
              <a:rPr lang="en-US" altLang="zh-CN" sz="2750" b="1">
                <a:solidFill>
                  <a:srgbClr val="142033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：文书生成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84200" y="1371600"/>
            <a:ext cx="103124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把非结构化材料变成结构化字段，再匹配模板生成可提交材料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11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1117600" y="5232400"/>
            <a:ext cx="99568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117600" y="5232400"/>
            <a:ext cx="50800" cy="863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333500" y="5410200"/>
            <a:ext cx="95758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输出标准化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333500" y="5791200"/>
            <a:ext cx="95758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自动提取公司、入职日期、薪资、解除原因等字段，匹配</a:t>
            </a:r>
            <a:r>
              <a:rPr lang="en-US" altLang="zh-CN" sz="1400" b="1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1400" b="1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仲裁申请书</a:t>
            </a:r>
            <a:r>
              <a:rPr lang="en-US" altLang="zh-CN" sz="1400" b="1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1400" b="1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和证据目录模板。</a:t>
            </a:r>
          </a:p>
        </p:txBody>
      </p:sp>
      <p:pic>
        <p:nvPicPr>
          <p:cNvPr id="27" name="图片 26" descr="34cfb27dff4233dc895024952ae72ee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987550"/>
            <a:ext cx="5271770" cy="27749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460" y="1413510"/>
            <a:ext cx="5441950" cy="3547745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6094095" y="1371600"/>
            <a:ext cx="5441315" cy="359473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 11"/>
          <p:cNvSpPr/>
          <p:nvPr/>
        </p:nvSpPr>
        <p:spPr>
          <a:xfrm>
            <a:off x="92837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2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应用实践：查询案例与法规</a:t>
            </a:r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  <a:sym typeface="+mn-ea"/>
              </a:rPr>
              <a:t>、劳动仲裁小助手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用户在同一工作台内完成案情输入、诉求识别与结果确认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12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11200" y="2006600"/>
            <a:ext cx="3352800" cy="30988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348865"/>
            <a:ext cx="3098800" cy="207518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812800" y="2108200"/>
            <a:ext cx="3149600" cy="26035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63600" y="4851400"/>
            <a:ext cx="3048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案情咨询入口</a:t>
            </a:r>
          </a:p>
        </p:txBody>
      </p:sp>
      <p:sp>
        <p:nvSpPr>
          <p:cNvPr id="26" name="矩形 25"/>
          <p:cNvSpPr/>
          <p:nvPr/>
        </p:nvSpPr>
        <p:spPr>
          <a:xfrm>
            <a:off x="4419600" y="2006600"/>
            <a:ext cx="3352800" cy="30988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00" y="2395265"/>
            <a:ext cx="3149600" cy="2029369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4521200" y="2108200"/>
            <a:ext cx="3149600" cy="26035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572000" y="4851400"/>
            <a:ext cx="3048000" cy="1250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法规查询入口</a:t>
            </a:r>
          </a:p>
        </p:txBody>
      </p:sp>
      <p:sp>
        <p:nvSpPr>
          <p:cNvPr id="31" name="矩形 30"/>
          <p:cNvSpPr/>
          <p:nvPr/>
        </p:nvSpPr>
        <p:spPr>
          <a:xfrm>
            <a:off x="8128000" y="2006600"/>
            <a:ext cx="3352800" cy="30988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799" y="2108200"/>
            <a:ext cx="1683203" cy="260350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8229600" y="2108200"/>
            <a:ext cx="3149600" cy="26035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280400" y="4851400"/>
            <a:ext cx="30480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667085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对话与确认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 11"/>
          <p:cNvSpPr/>
          <p:nvPr/>
        </p:nvSpPr>
        <p:spPr>
          <a:xfrm>
            <a:off x="92837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可靠性：把大模型输出放进可纠错流程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 History 增量纠错机制降低一次性生成的不可控风险</a:t>
            </a:r>
            <a:endParaRPr lang="zh-CN" altLang="en-US" sz="1230">
              <a:solidFill>
                <a:srgbClr val="66708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13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5000" y="1981200"/>
            <a:ext cx="8229600" cy="4140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10" y="2082800"/>
            <a:ext cx="6476379" cy="36449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736600" y="2082800"/>
            <a:ext cx="8026400" cy="36449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87400" y="5867400"/>
            <a:ext cx="79248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高可靠纠错闭环架构对比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9194800" y="2184400"/>
            <a:ext cx="2159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94800" y="2184400"/>
            <a:ext cx="50800" cy="1092200"/>
          </a:xfrm>
          <a:prstGeom prst="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9410700" y="2413000"/>
            <a:ext cx="381000" cy="381000"/>
          </a:xfrm>
          <a:prstGeom prst="round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410700" y="24765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×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944100" y="2362200"/>
            <a:ext cx="1206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传统方案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775825" y="2794000"/>
            <a:ext cx="1501140" cy="3435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单路径单循环，修改点固定，错误容易反复。</a:t>
            </a:r>
          </a:p>
        </p:txBody>
      </p:sp>
      <p:sp>
        <p:nvSpPr>
          <p:cNvPr id="32" name="矩形: 圆角 31"/>
          <p:cNvSpPr/>
          <p:nvPr/>
        </p:nvSpPr>
        <p:spPr>
          <a:xfrm>
            <a:off x="9194800" y="3530600"/>
            <a:ext cx="2159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194800" y="3530600"/>
            <a:ext cx="50800" cy="10922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9410700" y="3759200"/>
            <a:ext cx="381000" cy="3810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9410700" y="38227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</a:rPr>
              <a:t>✓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9944100" y="3708400"/>
            <a:ext cx="1206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升级方案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9871075" y="4140200"/>
            <a:ext cx="1405890" cy="3435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全路径共享，</a:t>
            </a:r>
            <a:r>
              <a:rPr lang="en-US" altLang="zh-CN" sz="1120">
                <a:solidFill>
                  <a:srgbClr val="667085"/>
                </a:solidFill>
                <a:latin typeface="微软雅黑" panose="020B0503020204020204" pitchFamily="34" charset="-122"/>
              </a:rPr>
              <a:t>History </a:t>
            </a:r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累积，人工确认校验。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9194800" y="4902200"/>
            <a:ext cx="2159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9194800" y="4902200"/>
            <a:ext cx="50800" cy="1092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/>
          <p:cNvSpPr/>
          <p:nvPr/>
        </p:nvSpPr>
        <p:spPr>
          <a:xfrm>
            <a:off x="9410700" y="5130800"/>
            <a:ext cx="381000" cy="3810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410700" y="51943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!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944100" y="5080000"/>
            <a:ext cx="1206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核心价值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944100" y="5461000"/>
            <a:ext cx="12065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降低文本错误风险，提升文书严谨性。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 11"/>
          <p:cNvSpPr/>
          <p:nvPr/>
        </p:nvSpPr>
        <p:spPr>
          <a:xfrm>
            <a:off x="92837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安全加固：把评委反馈转化为工程闭环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从密钥管理、数据暴露、跨域安全三个维度补齐落地风险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14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98245" y="2082800"/>
            <a:ext cx="5447665" cy="3378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403985" y="2255520"/>
            <a:ext cx="5015865" cy="2826385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402715" y="5207000"/>
            <a:ext cx="5582285" cy="1263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20" b="1">
                <a:solidFill>
                  <a:srgbClr val="667085"/>
                </a:solidFill>
                <a:latin typeface="微软雅黑" panose="020B0503020204020204" pitchFamily="34" charset="-122"/>
              </a:rPr>
              <a:t>信息安全修复项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7493000" y="2159000"/>
            <a:ext cx="3810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493000" y="2159000"/>
            <a:ext cx="50800" cy="914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7708900" y="2387600"/>
            <a:ext cx="381000" cy="3810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708900" y="24511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242300" y="2336800"/>
            <a:ext cx="2857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密钥管理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242300" y="2638425"/>
            <a:ext cx="2857500" cy="4241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20" b="1">
                <a:solidFill>
                  <a:schemeClr val="tx1"/>
                </a:solidFill>
                <a:latin typeface="微软雅黑" panose="020B0503020204020204" pitchFamily="34" charset="-122"/>
              </a:rPr>
              <a:t>Agent ID / API Key </a:t>
            </a:r>
            <a:r>
              <a:rPr lang="zh-CN" altLang="en-US" sz="1120" b="1">
                <a:solidFill>
                  <a:schemeClr val="tx1"/>
                </a:solidFill>
                <a:latin typeface="微软雅黑" panose="020B0503020204020204" pitchFamily="34" charset="-122"/>
              </a:rPr>
              <a:t>移出前端；敏感配置统一由后端环境变量管理。</a:t>
            </a:r>
          </a:p>
        </p:txBody>
      </p:sp>
      <p:sp>
        <p:nvSpPr>
          <p:cNvPr id="32" name="矩形: 圆角 31"/>
          <p:cNvSpPr/>
          <p:nvPr/>
        </p:nvSpPr>
        <p:spPr>
          <a:xfrm>
            <a:off x="7493000" y="3403600"/>
            <a:ext cx="3810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7493000" y="3403600"/>
            <a:ext cx="50800" cy="9144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7708900" y="3632200"/>
            <a:ext cx="381000" cy="3810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708900" y="36957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242300" y="3581400"/>
            <a:ext cx="2857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数据暴露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242300" y="3856990"/>
            <a:ext cx="2857500" cy="45021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20" b="1">
                <a:solidFill>
                  <a:schemeClr val="tx1"/>
                </a:solidFill>
                <a:latin typeface="微软雅黑" panose="020B0503020204020204" pitchFamily="34" charset="-122"/>
              </a:rPr>
              <a:t>上传材料、文书结果和日志信息按最小化原则处理，降低泄露面。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7493000" y="4648200"/>
            <a:ext cx="3810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493000" y="4648200"/>
            <a:ext cx="50800" cy="9144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/>
          <p:cNvSpPr/>
          <p:nvPr/>
        </p:nvSpPr>
        <p:spPr>
          <a:xfrm>
            <a:off x="7708900" y="4876800"/>
            <a:ext cx="381000" cy="381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708900" y="49403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242300" y="4826000"/>
            <a:ext cx="2857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跨域安全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8242300" y="5100955"/>
            <a:ext cx="2857500" cy="4495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1120" b="1">
                <a:latin typeface="微软雅黑" panose="020B0503020204020204" pitchFamily="34" charset="-122"/>
              </a:rPr>
              <a:t>收敛 CORS 访问范围，明确允许域名、请求方法和鉴权流程。</a:t>
            </a:r>
          </a:p>
        </p:txBody>
      </p:sp>
      <p:pic>
        <p:nvPicPr>
          <p:cNvPr id="44" name="图片 43" descr="84709646746babad97cc1d0c3fc749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2241550"/>
            <a:ext cx="5016500" cy="2823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11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05275" y="3013710"/>
            <a:ext cx="43973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>
                <a:solidFill>
                  <a:srgbClr val="142033"/>
                </a:solidFill>
                <a:latin typeface="微软雅黑" panose="020B0503020204020204" pitchFamily="34" charset="-122"/>
                <a:sym typeface="+mn-ea"/>
              </a:rPr>
              <a:t>成果展示</a:t>
            </a:r>
          </a:p>
        </p:txBody>
      </p:sp>
      <p:pic>
        <p:nvPicPr>
          <p:cNvPr id="3" name="功能演示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4" name="矩形 13"/>
          <p:cNvSpPr/>
          <p:nvPr/>
        </p:nvSpPr>
        <p:spPr>
          <a:xfrm>
            <a:off x="109220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成果总结：专业判断、流程闭环、工程可落地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围绕劳动仲裁准备阶段形成完整的智能法律服务能力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15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762000" y="2108200"/>
            <a:ext cx="495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62000" y="2108200"/>
            <a:ext cx="50800" cy="1422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977900" y="2336800"/>
            <a:ext cx="381000" cy="3810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77900" y="24003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11300" y="2286000"/>
            <a:ext cx="4000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智能判定，精准匹配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511300" y="2667000"/>
            <a:ext cx="40005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多维问答与规则识别先解决身份定性难，保证法律服务起点准确。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6350000" y="2108200"/>
            <a:ext cx="495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350000" y="2108200"/>
            <a:ext cx="50800" cy="14224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/>
        </p:nvSpPr>
        <p:spPr>
          <a:xfrm>
            <a:off x="6565900" y="2336800"/>
            <a:ext cx="381000" cy="3810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565900" y="24003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99300" y="2286000"/>
            <a:ext cx="4000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智能体矩阵，深度赋能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099300" y="2667000"/>
            <a:ext cx="40005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主智能体与专项节点协作，让复杂法律逻辑可拆解、可追踪。</a:t>
            </a:r>
          </a:p>
        </p:txBody>
      </p:sp>
      <p:sp>
        <p:nvSpPr>
          <p:cNvPr id="33" name="矩形: 圆角 32"/>
          <p:cNvSpPr/>
          <p:nvPr/>
        </p:nvSpPr>
        <p:spPr>
          <a:xfrm>
            <a:off x="762000" y="4038600"/>
            <a:ext cx="495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62000" y="4038600"/>
            <a:ext cx="50800" cy="14224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/>
          <p:cNvSpPr/>
          <p:nvPr/>
        </p:nvSpPr>
        <p:spPr>
          <a:xfrm>
            <a:off x="977900" y="4267200"/>
            <a:ext cx="381000" cy="381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77900" y="43307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511300" y="4216400"/>
            <a:ext cx="4000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一站式全流程，体验完整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511300" y="4597400"/>
            <a:ext cx="40005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从咨询、检索、证据整理到文书生成打通用户维权准备链路。</a:t>
            </a:r>
          </a:p>
        </p:txBody>
      </p:sp>
      <p:sp>
        <p:nvSpPr>
          <p:cNvPr id="39" name="矩形: 圆角 38"/>
          <p:cNvSpPr/>
          <p:nvPr/>
        </p:nvSpPr>
        <p:spPr>
          <a:xfrm>
            <a:off x="6350000" y="4038600"/>
            <a:ext cx="4953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350000" y="4038600"/>
            <a:ext cx="50800" cy="1422400"/>
          </a:xfrm>
          <a:prstGeom prst="rect">
            <a:avLst/>
          </a:prstGeom>
          <a:solidFill>
            <a:srgbClr val="647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/>
          <p:cNvSpPr/>
          <p:nvPr/>
        </p:nvSpPr>
        <p:spPr>
          <a:xfrm>
            <a:off x="6565900" y="4267200"/>
            <a:ext cx="381000" cy="381000"/>
          </a:xfrm>
          <a:prstGeom prst="roundRect">
            <a:avLst/>
          </a:prstGeom>
          <a:solidFill>
            <a:srgbClr val="6474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6565900" y="43307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099300" y="4216400"/>
            <a:ext cx="4000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纠错闭环，保障严谨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7099300" y="4597400"/>
            <a:ext cx="4000500" cy="172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生成、校验、反馈、优化持续循环，降低法律文书输出风险。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1041400" y="5892800"/>
            <a:ext cx="10160000" cy="381000"/>
          </a:xfrm>
          <a:prstGeom prst="roundRect">
            <a:avLst/>
          </a:prstGeom>
          <a:solidFill>
            <a:srgbClr val="E7F8F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371600" y="5994400"/>
            <a:ext cx="9499600" cy="2457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劳动仲裁帮不是单点工具，而是面向劳动维权准备阶段的自动化服务系统。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B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800" y="165100"/>
            <a:ext cx="34290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当前阶段：</a:t>
            </a:r>
            <a:r>
              <a:rPr lang="en-US" altLang="zh-CN" sz="1450" b="1">
                <a:solidFill>
                  <a:srgbClr val="FFFFFF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1450" b="1">
                <a:solidFill>
                  <a:srgbClr val="FFFFFF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41910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418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01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背景痛点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58293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801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02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解决方案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74676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184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03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技术架构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9105900" y="127000"/>
            <a:ext cx="1549400" cy="355600"/>
          </a:xfrm>
          <a:prstGeom prst="roundRect">
            <a:avLst/>
          </a:prstGeom>
          <a:solidFill>
            <a:srgbClr val="20344F"/>
          </a:solidFill>
          <a:ln w="12700">
            <a:solidFill>
              <a:srgbClr val="3B4F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567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D5DEE8"/>
                </a:solidFill>
                <a:latin typeface="微软雅黑" panose="020B0503020204020204" pitchFamily="34" charset="-122"/>
              </a:rPr>
              <a:t>04 </a:t>
            </a:r>
            <a:r>
              <a:rPr lang="zh-CN" altLang="en-US" sz="880" b="1">
                <a:solidFill>
                  <a:srgbClr val="D5DEE8"/>
                </a:solidFill>
                <a:latin typeface="微软雅黑" panose="020B0503020204020204" pitchFamily="34" charset="-122"/>
              </a:rPr>
              <a:t>核心功能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10744200" y="127000"/>
            <a:ext cx="1549400" cy="3556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0" y="228600"/>
            <a:ext cx="1447800" cy="1354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80" b="1">
                <a:solidFill>
                  <a:srgbClr val="FFFFFF"/>
                </a:solidFill>
                <a:latin typeface="微软雅黑" panose="020B0503020204020204" pitchFamily="34" charset="-122"/>
              </a:rPr>
              <a:t>05 </a:t>
            </a:r>
            <a:r>
              <a:rPr lang="zh-CN" altLang="en-US" sz="880" b="1">
                <a:solidFill>
                  <a:srgbClr val="FFFFFF"/>
                </a:solidFill>
                <a:latin typeface="微软雅黑" panose="020B0503020204020204" pitchFamily="34" charset="-122"/>
              </a:rPr>
              <a:t>成果价值</a:t>
            </a:r>
          </a:p>
        </p:txBody>
      </p:sp>
      <p:sp>
        <p:nvSpPr>
          <p:cNvPr id="14" name="矩形 13"/>
          <p:cNvSpPr/>
          <p:nvPr/>
        </p:nvSpPr>
        <p:spPr>
          <a:xfrm>
            <a:off x="10922000" y="533400"/>
            <a:ext cx="11938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84200" y="863600"/>
            <a:ext cx="10795000" cy="4231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50" b="1">
                <a:solidFill>
                  <a:srgbClr val="142033"/>
                </a:solidFill>
                <a:latin typeface="微软雅黑" panose="020B0503020204020204" pitchFamily="34" charset="-122"/>
              </a:rPr>
              <a:t>社会价值与后续规划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1371600"/>
            <a:ext cx="10287000" cy="215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从更多场景、更强生态、更可靠技术三条线继续演进</a:t>
            </a:r>
          </a:p>
        </p:txBody>
      </p:sp>
      <p:sp>
        <p:nvSpPr>
          <p:cNvPr id="17" name="矩形 16"/>
          <p:cNvSpPr/>
          <p:nvPr/>
        </p:nvSpPr>
        <p:spPr>
          <a:xfrm>
            <a:off x="584200" y="1727200"/>
            <a:ext cx="914400" cy="50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49400" y="1727200"/>
            <a:ext cx="355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84200" y="6565900"/>
            <a:ext cx="4572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劳动仲裁帮 </a:t>
            </a:r>
            <a:r>
              <a:rPr lang="en-US" altLang="zh-CN" sz="760">
                <a:solidFill>
                  <a:srgbClr val="9AA4B2"/>
                </a:solidFill>
                <a:latin typeface="微软雅黑" panose="020B0503020204020204" pitchFamily="34" charset="-122"/>
              </a:rPr>
              <a:t>| </a:t>
            </a:r>
            <a:r>
              <a:rPr lang="zh-CN" altLang="en-US" sz="760">
                <a:solidFill>
                  <a:srgbClr val="9AA4B2"/>
                </a:solidFill>
                <a:latin typeface="微软雅黑" panose="020B0503020204020204" pitchFamily="34" charset="-122"/>
              </a:rPr>
              <a:t>全场景劳动维权自动化法律助手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25200" y="6527800"/>
            <a:ext cx="4572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780">
                <a:solidFill>
                  <a:srgbClr val="9AA4B2"/>
                </a:solidFill>
                <a:latin typeface="微软雅黑" panose="020B0503020204020204" pitchFamily="34" charset="-122"/>
              </a:rPr>
              <a:t>16</a:t>
            </a:r>
            <a:endParaRPr lang="zh-CN" altLang="en-US" sz="780">
              <a:solidFill>
                <a:srgbClr val="9AA4B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762000" y="2082800"/>
            <a:ext cx="469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62000" y="2082800"/>
            <a:ext cx="50800" cy="1066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977900" y="2311400"/>
            <a:ext cx="381000" cy="3810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77900" y="23749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11300" y="2260600"/>
            <a:ext cx="3746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功能深化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511300" y="2641600"/>
            <a:ext cx="37465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拓展工伤认定、社保补缴、加班费追索等细分场景；探索 </a:t>
            </a:r>
            <a:r>
              <a:rPr lang="en-US" altLang="zh-CN" sz="1120">
                <a:solidFill>
                  <a:srgbClr val="667085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调解以促进诉前和解。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762000" y="3479800"/>
            <a:ext cx="469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62000" y="3479800"/>
            <a:ext cx="50800" cy="10668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/>
          <p:cNvSpPr/>
          <p:nvPr/>
        </p:nvSpPr>
        <p:spPr>
          <a:xfrm>
            <a:off x="977900" y="3708400"/>
            <a:ext cx="381000" cy="381000"/>
          </a:xfrm>
          <a:prstGeom prst="round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977900" y="37719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11300" y="3657600"/>
            <a:ext cx="3746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生态拓展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511300" y="4038600"/>
            <a:ext cx="37465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连接法律科技服务商、工会、法律援助中心，打通线上线下服务闭环。</a:t>
            </a:r>
          </a:p>
        </p:txBody>
      </p:sp>
      <p:sp>
        <p:nvSpPr>
          <p:cNvPr id="33" name="矩形: 圆角 32"/>
          <p:cNvSpPr/>
          <p:nvPr/>
        </p:nvSpPr>
        <p:spPr>
          <a:xfrm>
            <a:off x="762000" y="4876800"/>
            <a:ext cx="469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3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62000" y="4876800"/>
            <a:ext cx="50800" cy="1066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/>
          <p:cNvSpPr/>
          <p:nvPr/>
        </p:nvSpPr>
        <p:spPr>
          <a:xfrm>
            <a:off x="977900" y="5105400"/>
            <a:ext cx="381000" cy="381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77900" y="5168900"/>
            <a:ext cx="381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511300" y="5054600"/>
            <a:ext cx="37465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142033"/>
                </a:solidFill>
                <a:latin typeface="微软雅黑" panose="020B0503020204020204" pitchFamily="34" charset="-122"/>
              </a:rPr>
              <a:t>技术演进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511300" y="5435600"/>
            <a:ext cx="3746500" cy="344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20">
                <a:solidFill>
                  <a:srgbClr val="667085"/>
                </a:solidFill>
                <a:latin typeface="微软雅黑" panose="020B0503020204020204" pitchFamily="34" charset="-122"/>
              </a:rPr>
              <a:t>持续优化法律模型、检索召回、文书模板和多语言能力，提升复杂案情推理质量。</a:t>
            </a:r>
          </a:p>
        </p:txBody>
      </p:sp>
      <p:sp>
        <p:nvSpPr>
          <p:cNvPr id="39" name="矩形 38"/>
          <p:cNvSpPr/>
          <p:nvPr/>
        </p:nvSpPr>
        <p:spPr>
          <a:xfrm>
            <a:off x="6273800" y="2032000"/>
            <a:ext cx="4521200" cy="2235200"/>
          </a:xfrm>
          <a:prstGeom prst="rect">
            <a:avLst/>
          </a:prstGeom>
          <a:solidFill>
            <a:srgbClr val="FFFFFF"/>
          </a:solidFill>
          <a:ln w="17145">
            <a:solidFill>
              <a:srgbClr val="9AAFC7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184" y="2133600"/>
            <a:ext cx="3432432" cy="2032000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6375400" y="2133600"/>
            <a:ext cx="4318000" cy="2032000"/>
          </a:xfrm>
          <a:prstGeom prst="rect">
            <a:avLst/>
          </a:prstGeom>
          <a:noFill/>
          <a:ln w="13970" cap="flat" cmpd="sng" algn="ctr">
            <a:solidFill>
              <a:srgbClr val="CDD6E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6273800" y="4572000"/>
            <a:ext cx="4521200" cy="11684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  <a:effectLst>
            <a:outerShdw blurRad="177800" dist="38100" dir="5400000" rotWithShape="0">
              <a:srgbClr val="111827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731000" y="4851400"/>
            <a:ext cx="3619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FFFFFF"/>
                </a:solidFill>
                <a:latin typeface="微软雅黑" panose="020B0503020204020204" pitchFamily="34" charset="-122"/>
              </a:rPr>
              <a:t>构建更智能、更开放的</a:t>
            </a:r>
          </a:p>
          <a:p>
            <a:pPr algn="ctr"/>
            <a:r>
              <a:rPr lang="zh-CN" altLang="en-US" sz="2100" b="1">
                <a:solidFill>
                  <a:srgbClr val="FFFFFF"/>
                </a:solidFill>
                <a:latin typeface="微软雅黑" panose="020B0503020204020204" pitchFamily="34" charset="-122"/>
              </a:rPr>
              <a:t>劳动者权益保护网络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629400" y="5497830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C7F4EF"/>
                </a:solidFill>
                <a:latin typeface="微软雅黑" panose="020B0503020204020204" pitchFamily="34" charset="-122"/>
              </a:rPr>
              <a:t>以技术赋能法律，让劳动者更低门槛地走近公平与正义。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2,&quot;left&quot;:120,&quot;top&quot;:172,&quot;width&quot;:72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5378</Words>
  <Application>Microsoft Office PowerPoint</Application>
  <PresentationFormat>宽屏</PresentationFormat>
  <Paragraphs>338</Paragraphs>
  <Slides>18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梓凡 戚</dc:creator>
  <cp:lastModifiedBy>8615263235583</cp:lastModifiedBy>
  <cp:revision>19</cp:revision>
  <dcterms:created xsi:type="dcterms:W3CDTF">2026-06-04T16:44:00Z</dcterms:created>
  <dcterms:modified xsi:type="dcterms:W3CDTF">2026-09-22T12:35:56Z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587838A6602E4F25A416EFEDC682BBA9_13</vt:lpwstr>
  </property>
</Properties>
</file>